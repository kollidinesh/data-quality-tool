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5" r:id="rId5"/>
    <p:sldId id="274" r:id="rId6"/>
    <p:sldId id="261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5" r:id="rId16"/>
    <p:sldId id="286" r:id="rId17"/>
    <p:sldId id="287" r:id="rId18"/>
    <p:sldId id="288" r:id="rId19"/>
    <p:sldId id="284" r:id="rId20"/>
    <p:sldId id="289" r:id="rId21"/>
    <p:sldId id="290" r:id="rId22"/>
    <p:sldId id="273" r:id="rId23"/>
  </p:sldIdLst>
  <p:sldSz cx="12192000" cy="6858000"/>
  <p:notesSz cx="6858000" cy="9144000"/>
  <p:embeddedFontLst>
    <p:embeddedFont>
      <p:font typeface="Colonna MT" panose="04020805060202030203" pitchFamily="82" charset="0"/>
      <p:regular r:id="rId25"/>
    </p:embeddedFont>
    <p:embeddedFont>
      <p:font typeface="Hanken Grotesk Light" panose="020B0604020202020204" charset="0"/>
      <p:regular r:id="rId26"/>
      <p:bold r:id="rId27"/>
      <p:italic r:id="rId28"/>
      <p:boldItalic r:id="rId29"/>
    </p:embeddedFont>
    <p:embeddedFont>
      <p:font typeface="Hanken Grotesk Medium" panose="020B0604020202020204" charset="0"/>
      <p:regular r:id="rId30"/>
      <p:bold r:id="rId31"/>
      <p:italic r:id="rId32"/>
      <p:boldItalic r:id="rId33"/>
    </p:embeddedFont>
    <p:embeddedFont>
      <p:font typeface="Play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Y/M2WlipRszyOFlJ4MdiGe1IS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B7FCF0-C7CB-425C-9ED2-933B075FCBD3}">
  <a:tblStyle styleId="{AEB7FCF0-C7CB-425C-9ED2-933B075FCBD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6CEDB9-7961-475A-BA05-4B89A8CCB26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48B251C-15A1-4722-B051-2B968D3226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Data Quality Tool provides a complete enterprise-ready validation pipeline, supporting:</a:t>
          </a:r>
        </a:p>
      </dgm:t>
    </dgm:pt>
    <dgm:pt modelId="{35668E59-ED74-42BE-9DEE-866A3438E28F}" type="parTrans" cxnId="{FC070FFD-8424-44D0-AD8B-015CB252777E}">
      <dgm:prSet/>
      <dgm:spPr/>
      <dgm:t>
        <a:bodyPr/>
        <a:lstStyle/>
        <a:p>
          <a:endParaRPr lang="en-US"/>
        </a:p>
      </dgm:t>
    </dgm:pt>
    <dgm:pt modelId="{AF391E16-E37C-4A0D-943C-A5C0A2782C67}" type="sibTrans" cxnId="{FC070FFD-8424-44D0-AD8B-015CB252777E}">
      <dgm:prSet/>
      <dgm:spPr/>
      <dgm:t>
        <a:bodyPr/>
        <a:lstStyle/>
        <a:p>
          <a:endParaRPr lang="en-US"/>
        </a:p>
      </dgm:t>
    </dgm:pt>
    <dgm:pt modelId="{32A50E6E-55C9-4B55-9A00-E08007300B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Excel &amp; DB based validation</a:t>
          </a:r>
        </a:p>
      </dgm:t>
    </dgm:pt>
    <dgm:pt modelId="{45D7362C-D0C3-419C-B406-05AC4D980371}" type="parTrans" cxnId="{A66E0206-CFE2-41C0-9E32-2001A5EF0CD9}">
      <dgm:prSet/>
      <dgm:spPr/>
      <dgm:t>
        <a:bodyPr/>
        <a:lstStyle/>
        <a:p>
          <a:endParaRPr lang="en-US"/>
        </a:p>
      </dgm:t>
    </dgm:pt>
    <dgm:pt modelId="{089B9226-F5BE-4CD8-8CDA-E570E4C127EB}" type="sibTrans" cxnId="{A66E0206-CFE2-41C0-9E32-2001A5EF0CD9}">
      <dgm:prSet/>
      <dgm:spPr/>
      <dgm:t>
        <a:bodyPr/>
        <a:lstStyle/>
        <a:p>
          <a:endParaRPr lang="en-US"/>
        </a:p>
      </dgm:t>
    </dgm:pt>
    <dgm:pt modelId="{BCB24A94-7937-440A-835D-697F07CDFA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Real-time log streaming</a:t>
          </a:r>
        </a:p>
      </dgm:t>
    </dgm:pt>
    <dgm:pt modelId="{8F751FB8-1243-4429-9BC6-806C9AB652AD}" type="parTrans" cxnId="{8D59BD34-CAFA-4BE7-8D24-2490A39398D0}">
      <dgm:prSet/>
      <dgm:spPr/>
      <dgm:t>
        <a:bodyPr/>
        <a:lstStyle/>
        <a:p>
          <a:endParaRPr lang="en-US"/>
        </a:p>
      </dgm:t>
    </dgm:pt>
    <dgm:pt modelId="{F03FD8ED-6F03-4FF6-84BB-60D9B7F6EAB6}" type="sibTrans" cxnId="{8D59BD34-CAFA-4BE7-8D24-2490A39398D0}">
      <dgm:prSet/>
      <dgm:spPr/>
      <dgm:t>
        <a:bodyPr/>
        <a:lstStyle/>
        <a:p>
          <a:endParaRPr lang="en-US"/>
        </a:p>
      </dgm:t>
    </dgm:pt>
    <dgm:pt modelId="{D5E0E9E8-D8AB-47CD-9F29-95067558E8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Structured reporting</a:t>
          </a:r>
        </a:p>
      </dgm:t>
    </dgm:pt>
    <dgm:pt modelId="{5DCE8B0D-CD25-4A66-B577-3213E7AC062D}" type="parTrans" cxnId="{6FB80FB2-17DD-4365-94C7-8811262C9209}">
      <dgm:prSet/>
      <dgm:spPr/>
      <dgm:t>
        <a:bodyPr/>
        <a:lstStyle/>
        <a:p>
          <a:endParaRPr lang="en-US"/>
        </a:p>
      </dgm:t>
    </dgm:pt>
    <dgm:pt modelId="{F19B09C3-6565-4DDD-8D1F-E7591F22F4D6}" type="sibTrans" cxnId="{6FB80FB2-17DD-4365-94C7-8811262C9209}">
      <dgm:prSet/>
      <dgm:spPr/>
      <dgm:t>
        <a:bodyPr/>
        <a:lstStyle/>
        <a:p>
          <a:endParaRPr lang="en-US"/>
        </a:p>
      </dgm:t>
    </dgm:pt>
    <dgm:pt modelId="{4FB90034-7017-492C-A359-73C710C19C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Modular architecture</a:t>
          </a:r>
        </a:p>
      </dgm:t>
    </dgm:pt>
    <dgm:pt modelId="{6C5FAAEE-C291-4B9E-9311-6D993C8762C5}" type="parTrans" cxnId="{F244F8A2-59DE-4B91-8E2B-79C26E61C481}">
      <dgm:prSet/>
      <dgm:spPr/>
      <dgm:t>
        <a:bodyPr/>
        <a:lstStyle/>
        <a:p>
          <a:endParaRPr lang="en-US"/>
        </a:p>
      </dgm:t>
    </dgm:pt>
    <dgm:pt modelId="{D7E596B8-8238-47F8-94D4-DC80B50EC443}" type="sibTrans" cxnId="{F244F8A2-59DE-4B91-8E2B-79C26E61C481}">
      <dgm:prSet/>
      <dgm:spPr/>
      <dgm:t>
        <a:bodyPr/>
        <a:lstStyle/>
        <a:p>
          <a:endParaRPr lang="en-US"/>
        </a:p>
      </dgm:t>
    </dgm:pt>
    <dgm:pt modelId="{76132ACD-E272-4582-8491-E0C21DF9CD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Extensible validation layer</a:t>
          </a:r>
        </a:p>
      </dgm:t>
    </dgm:pt>
    <dgm:pt modelId="{56A93FD5-83C7-42B0-9EB4-7A16895D34FF}" type="parTrans" cxnId="{77B26F9E-E8BA-469F-B369-77F0B9906349}">
      <dgm:prSet/>
      <dgm:spPr/>
      <dgm:t>
        <a:bodyPr/>
        <a:lstStyle/>
        <a:p>
          <a:endParaRPr lang="en-US"/>
        </a:p>
      </dgm:t>
    </dgm:pt>
    <dgm:pt modelId="{57AA1E54-2AAE-4213-8EFE-9BF44F11875A}" type="sibTrans" cxnId="{77B26F9E-E8BA-469F-B369-77F0B9906349}">
      <dgm:prSet/>
      <dgm:spPr/>
      <dgm:t>
        <a:bodyPr/>
        <a:lstStyle/>
        <a:p>
          <a:endParaRPr lang="en-US"/>
        </a:p>
      </dgm:t>
    </dgm:pt>
    <dgm:pt modelId="{F0533583-A01E-4D0E-914C-00C45AC98124}" type="pres">
      <dgm:prSet presAssocID="{6F6CEDB9-7961-475A-BA05-4B89A8CCB26B}" presName="root" presStyleCnt="0">
        <dgm:presLayoutVars>
          <dgm:dir/>
          <dgm:resizeHandles val="exact"/>
        </dgm:presLayoutVars>
      </dgm:prSet>
      <dgm:spPr/>
    </dgm:pt>
    <dgm:pt modelId="{2CE9FE99-A6DC-4B8B-AC15-4F41530D8B00}" type="pres">
      <dgm:prSet presAssocID="{048B251C-15A1-4722-B051-2B968D322642}" presName="compNode" presStyleCnt="0"/>
      <dgm:spPr/>
    </dgm:pt>
    <dgm:pt modelId="{7D7EBF0C-19AB-458F-8378-7344DF600998}" type="pres">
      <dgm:prSet presAssocID="{048B251C-15A1-4722-B051-2B968D322642}" presName="bgRect" presStyleLbl="bgShp" presStyleIdx="0" presStyleCnt="6"/>
      <dgm:spPr/>
    </dgm:pt>
    <dgm:pt modelId="{43567708-2AE5-49C9-8D26-C144EAACA2A4}" type="pres">
      <dgm:prSet presAssocID="{048B251C-15A1-4722-B051-2B968D32264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1D0E0990-C3E1-4E45-8519-6C9F85D4AFAA}" type="pres">
      <dgm:prSet presAssocID="{048B251C-15A1-4722-B051-2B968D322642}" presName="spaceRect" presStyleCnt="0"/>
      <dgm:spPr/>
    </dgm:pt>
    <dgm:pt modelId="{23D9FF6F-3864-4B7B-B8FF-83DCFDC45B16}" type="pres">
      <dgm:prSet presAssocID="{048B251C-15A1-4722-B051-2B968D322642}" presName="parTx" presStyleLbl="revTx" presStyleIdx="0" presStyleCnt="6">
        <dgm:presLayoutVars>
          <dgm:chMax val="0"/>
          <dgm:chPref val="0"/>
        </dgm:presLayoutVars>
      </dgm:prSet>
      <dgm:spPr/>
    </dgm:pt>
    <dgm:pt modelId="{BAC77B9E-C927-4F32-AF59-AEC8FD451B20}" type="pres">
      <dgm:prSet presAssocID="{AF391E16-E37C-4A0D-943C-A5C0A2782C67}" presName="sibTrans" presStyleCnt="0"/>
      <dgm:spPr/>
    </dgm:pt>
    <dgm:pt modelId="{83B4A746-5E41-4941-B602-AFD37265C8AD}" type="pres">
      <dgm:prSet presAssocID="{32A50E6E-55C9-4B55-9A00-E08007300BC7}" presName="compNode" presStyleCnt="0"/>
      <dgm:spPr/>
    </dgm:pt>
    <dgm:pt modelId="{FE381A51-4323-4717-B55D-F7BD8567CC3F}" type="pres">
      <dgm:prSet presAssocID="{32A50E6E-55C9-4B55-9A00-E08007300BC7}" presName="bgRect" presStyleLbl="bgShp" presStyleIdx="1" presStyleCnt="6"/>
      <dgm:spPr/>
    </dgm:pt>
    <dgm:pt modelId="{63661867-3E60-4812-89A1-107301FA313B}" type="pres">
      <dgm:prSet presAssocID="{32A50E6E-55C9-4B55-9A00-E08007300BC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103F83D-FB5A-49A2-8409-5BDE726CB145}" type="pres">
      <dgm:prSet presAssocID="{32A50E6E-55C9-4B55-9A00-E08007300BC7}" presName="spaceRect" presStyleCnt="0"/>
      <dgm:spPr/>
    </dgm:pt>
    <dgm:pt modelId="{0CBE2641-2589-42FE-9276-48ED6DA3801F}" type="pres">
      <dgm:prSet presAssocID="{32A50E6E-55C9-4B55-9A00-E08007300BC7}" presName="parTx" presStyleLbl="revTx" presStyleIdx="1" presStyleCnt="6">
        <dgm:presLayoutVars>
          <dgm:chMax val="0"/>
          <dgm:chPref val="0"/>
        </dgm:presLayoutVars>
      </dgm:prSet>
      <dgm:spPr/>
    </dgm:pt>
    <dgm:pt modelId="{A1ADB142-9DB1-4881-92D8-B4B4F7D1ABDD}" type="pres">
      <dgm:prSet presAssocID="{089B9226-F5BE-4CD8-8CDA-E570E4C127EB}" presName="sibTrans" presStyleCnt="0"/>
      <dgm:spPr/>
    </dgm:pt>
    <dgm:pt modelId="{55AE33EF-53B6-4BC5-BDE2-FF0F83B4C06C}" type="pres">
      <dgm:prSet presAssocID="{BCB24A94-7937-440A-835D-697F07CDFA7B}" presName="compNode" presStyleCnt="0"/>
      <dgm:spPr/>
    </dgm:pt>
    <dgm:pt modelId="{7C059610-2643-4CE3-B696-14D4B6058D3E}" type="pres">
      <dgm:prSet presAssocID="{BCB24A94-7937-440A-835D-697F07CDFA7B}" presName="bgRect" presStyleLbl="bgShp" presStyleIdx="2" presStyleCnt="6"/>
      <dgm:spPr/>
    </dgm:pt>
    <dgm:pt modelId="{CFFBE515-EC40-4026-910B-33E3A2016AC0}" type="pres">
      <dgm:prSet presAssocID="{BCB24A94-7937-440A-835D-697F07CDFA7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D1692AC7-AD6E-4656-ADE8-FB0A08A23671}" type="pres">
      <dgm:prSet presAssocID="{BCB24A94-7937-440A-835D-697F07CDFA7B}" presName="spaceRect" presStyleCnt="0"/>
      <dgm:spPr/>
    </dgm:pt>
    <dgm:pt modelId="{9E86A847-1039-4D4F-AB10-4A75BC1B048D}" type="pres">
      <dgm:prSet presAssocID="{BCB24A94-7937-440A-835D-697F07CDFA7B}" presName="parTx" presStyleLbl="revTx" presStyleIdx="2" presStyleCnt="6">
        <dgm:presLayoutVars>
          <dgm:chMax val="0"/>
          <dgm:chPref val="0"/>
        </dgm:presLayoutVars>
      </dgm:prSet>
      <dgm:spPr/>
    </dgm:pt>
    <dgm:pt modelId="{7F0EC1A7-9C5F-47BA-9A32-E07361C49285}" type="pres">
      <dgm:prSet presAssocID="{F03FD8ED-6F03-4FF6-84BB-60D9B7F6EAB6}" presName="sibTrans" presStyleCnt="0"/>
      <dgm:spPr/>
    </dgm:pt>
    <dgm:pt modelId="{7F3438BE-9980-4730-AE52-E4D1BB18F822}" type="pres">
      <dgm:prSet presAssocID="{D5E0E9E8-D8AB-47CD-9F29-95067558E8E1}" presName="compNode" presStyleCnt="0"/>
      <dgm:spPr/>
    </dgm:pt>
    <dgm:pt modelId="{93C92166-FB0B-4E4F-A794-F3BC2693E25C}" type="pres">
      <dgm:prSet presAssocID="{D5E0E9E8-D8AB-47CD-9F29-95067558E8E1}" presName="bgRect" presStyleLbl="bgShp" presStyleIdx="3" presStyleCnt="6"/>
      <dgm:spPr/>
    </dgm:pt>
    <dgm:pt modelId="{F781E36B-0B83-452E-B91A-64802E6EDAC8}" type="pres">
      <dgm:prSet presAssocID="{D5E0E9E8-D8AB-47CD-9F29-95067558E8E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BE1D9C6-BFB3-464E-B612-08832AC0A77D}" type="pres">
      <dgm:prSet presAssocID="{D5E0E9E8-D8AB-47CD-9F29-95067558E8E1}" presName="spaceRect" presStyleCnt="0"/>
      <dgm:spPr/>
    </dgm:pt>
    <dgm:pt modelId="{4F0C69C8-1FAF-4EC7-8841-49D505C9DFC6}" type="pres">
      <dgm:prSet presAssocID="{D5E0E9E8-D8AB-47CD-9F29-95067558E8E1}" presName="parTx" presStyleLbl="revTx" presStyleIdx="3" presStyleCnt="6">
        <dgm:presLayoutVars>
          <dgm:chMax val="0"/>
          <dgm:chPref val="0"/>
        </dgm:presLayoutVars>
      </dgm:prSet>
      <dgm:spPr/>
    </dgm:pt>
    <dgm:pt modelId="{C0CA6478-30A3-4B06-8F72-4C32ACB15DEA}" type="pres">
      <dgm:prSet presAssocID="{F19B09C3-6565-4DDD-8D1F-E7591F22F4D6}" presName="sibTrans" presStyleCnt="0"/>
      <dgm:spPr/>
    </dgm:pt>
    <dgm:pt modelId="{7BA84592-B4B5-4083-B91F-03A710E75725}" type="pres">
      <dgm:prSet presAssocID="{4FB90034-7017-492C-A359-73C710C19C8A}" presName="compNode" presStyleCnt="0"/>
      <dgm:spPr/>
    </dgm:pt>
    <dgm:pt modelId="{B9DB130C-D913-474B-B5D9-AFBD4B2D0450}" type="pres">
      <dgm:prSet presAssocID="{4FB90034-7017-492C-A359-73C710C19C8A}" presName="bgRect" presStyleLbl="bgShp" presStyleIdx="4" presStyleCnt="6"/>
      <dgm:spPr/>
    </dgm:pt>
    <dgm:pt modelId="{0F6E9BA7-894E-44B4-AEE3-228115BD031B}" type="pres">
      <dgm:prSet presAssocID="{4FB90034-7017-492C-A359-73C710C19C8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F6EE267-0721-4309-A86D-32D5D5A2D08F}" type="pres">
      <dgm:prSet presAssocID="{4FB90034-7017-492C-A359-73C710C19C8A}" presName="spaceRect" presStyleCnt="0"/>
      <dgm:spPr/>
    </dgm:pt>
    <dgm:pt modelId="{5494197E-3685-4073-8AE0-94CE0BF44B06}" type="pres">
      <dgm:prSet presAssocID="{4FB90034-7017-492C-A359-73C710C19C8A}" presName="parTx" presStyleLbl="revTx" presStyleIdx="4" presStyleCnt="6">
        <dgm:presLayoutVars>
          <dgm:chMax val="0"/>
          <dgm:chPref val="0"/>
        </dgm:presLayoutVars>
      </dgm:prSet>
      <dgm:spPr/>
    </dgm:pt>
    <dgm:pt modelId="{31403166-5375-49F5-AE67-B5A4A76CEE49}" type="pres">
      <dgm:prSet presAssocID="{D7E596B8-8238-47F8-94D4-DC80B50EC443}" presName="sibTrans" presStyleCnt="0"/>
      <dgm:spPr/>
    </dgm:pt>
    <dgm:pt modelId="{1923DD93-47A2-4EBF-BE00-49569537F63E}" type="pres">
      <dgm:prSet presAssocID="{76132ACD-E272-4582-8491-E0C21DF9CD45}" presName="compNode" presStyleCnt="0"/>
      <dgm:spPr/>
    </dgm:pt>
    <dgm:pt modelId="{0400A5F3-E2EC-47D1-991E-27783C53EF88}" type="pres">
      <dgm:prSet presAssocID="{76132ACD-E272-4582-8491-E0C21DF9CD45}" presName="bgRect" presStyleLbl="bgShp" presStyleIdx="5" presStyleCnt="6"/>
      <dgm:spPr/>
    </dgm:pt>
    <dgm:pt modelId="{B24C6A02-2DF8-4AFE-9ABE-FD177685637C}" type="pres">
      <dgm:prSet presAssocID="{76132ACD-E272-4582-8491-E0C21DF9CD4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40789DB-668A-4C5E-820D-6E19EF81EB5F}" type="pres">
      <dgm:prSet presAssocID="{76132ACD-E272-4582-8491-E0C21DF9CD45}" presName="spaceRect" presStyleCnt="0"/>
      <dgm:spPr/>
    </dgm:pt>
    <dgm:pt modelId="{0B97C9A2-0BC2-4311-AB74-6A98BD67B568}" type="pres">
      <dgm:prSet presAssocID="{76132ACD-E272-4582-8491-E0C21DF9CD4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66E0206-CFE2-41C0-9E32-2001A5EF0CD9}" srcId="{6F6CEDB9-7961-475A-BA05-4B89A8CCB26B}" destId="{32A50E6E-55C9-4B55-9A00-E08007300BC7}" srcOrd="1" destOrd="0" parTransId="{45D7362C-D0C3-419C-B406-05AC4D980371}" sibTransId="{089B9226-F5BE-4CD8-8CDA-E570E4C127EB}"/>
    <dgm:cxn modelId="{25BAFE30-C527-44D4-99D6-525E50DC7D11}" type="presOf" srcId="{4FB90034-7017-492C-A359-73C710C19C8A}" destId="{5494197E-3685-4073-8AE0-94CE0BF44B06}" srcOrd="0" destOrd="0" presId="urn:microsoft.com/office/officeart/2018/2/layout/IconVerticalSolidList"/>
    <dgm:cxn modelId="{8D59BD34-CAFA-4BE7-8D24-2490A39398D0}" srcId="{6F6CEDB9-7961-475A-BA05-4B89A8CCB26B}" destId="{BCB24A94-7937-440A-835D-697F07CDFA7B}" srcOrd="2" destOrd="0" parTransId="{8F751FB8-1243-4429-9BC6-806C9AB652AD}" sibTransId="{F03FD8ED-6F03-4FF6-84BB-60D9B7F6EAB6}"/>
    <dgm:cxn modelId="{B92C6964-FB71-4B46-AB92-945D51A4EEA4}" type="presOf" srcId="{32A50E6E-55C9-4B55-9A00-E08007300BC7}" destId="{0CBE2641-2589-42FE-9276-48ED6DA3801F}" srcOrd="0" destOrd="0" presId="urn:microsoft.com/office/officeart/2018/2/layout/IconVerticalSolidList"/>
    <dgm:cxn modelId="{77B26F9E-E8BA-469F-B369-77F0B9906349}" srcId="{6F6CEDB9-7961-475A-BA05-4B89A8CCB26B}" destId="{76132ACD-E272-4582-8491-E0C21DF9CD45}" srcOrd="5" destOrd="0" parTransId="{56A93FD5-83C7-42B0-9EB4-7A16895D34FF}" sibTransId="{57AA1E54-2AAE-4213-8EFE-9BF44F11875A}"/>
    <dgm:cxn modelId="{F244F8A2-59DE-4B91-8E2B-79C26E61C481}" srcId="{6F6CEDB9-7961-475A-BA05-4B89A8CCB26B}" destId="{4FB90034-7017-492C-A359-73C710C19C8A}" srcOrd="4" destOrd="0" parTransId="{6C5FAAEE-C291-4B9E-9311-6D993C8762C5}" sibTransId="{D7E596B8-8238-47F8-94D4-DC80B50EC443}"/>
    <dgm:cxn modelId="{3A6515A5-6C88-443D-B9A2-259E57F94F8B}" type="presOf" srcId="{048B251C-15A1-4722-B051-2B968D322642}" destId="{23D9FF6F-3864-4B7B-B8FF-83DCFDC45B16}" srcOrd="0" destOrd="0" presId="urn:microsoft.com/office/officeart/2018/2/layout/IconVerticalSolidList"/>
    <dgm:cxn modelId="{6FB80FB2-17DD-4365-94C7-8811262C9209}" srcId="{6F6CEDB9-7961-475A-BA05-4B89A8CCB26B}" destId="{D5E0E9E8-D8AB-47CD-9F29-95067558E8E1}" srcOrd="3" destOrd="0" parTransId="{5DCE8B0D-CD25-4A66-B577-3213E7AC062D}" sibTransId="{F19B09C3-6565-4DDD-8D1F-E7591F22F4D6}"/>
    <dgm:cxn modelId="{AE0A3BBA-5499-432A-99E3-D6867B9814EF}" type="presOf" srcId="{6F6CEDB9-7961-475A-BA05-4B89A8CCB26B}" destId="{F0533583-A01E-4D0E-914C-00C45AC98124}" srcOrd="0" destOrd="0" presId="urn:microsoft.com/office/officeart/2018/2/layout/IconVerticalSolidList"/>
    <dgm:cxn modelId="{BD419CBC-002A-4289-8217-EB54CA8362CE}" type="presOf" srcId="{D5E0E9E8-D8AB-47CD-9F29-95067558E8E1}" destId="{4F0C69C8-1FAF-4EC7-8841-49D505C9DFC6}" srcOrd="0" destOrd="0" presId="urn:microsoft.com/office/officeart/2018/2/layout/IconVerticalSolidList"/>
    <dgm:cxn modelId="{625E15D8-2EC2-400C-A1C9-23E9FF4BF613}" type="presOf" srcId="{76132ACD-E272-4582-8491-E0C21DF9CD45}" destId="{0B97C9A2-0BC2-4311-AB74-6A98BD67B568}" srcOrd="0" destOrd="0" presId="urn:microsoft.com/office/officeart/2018/2/layout/IconVerticalSolidList"/>
    <dgm:cxn modelId="{3C125FF3-AC8C-4676-BF8F-3C3849061BBC}" type="presOf" srcId="{BCB24A94-7937-440A-835D-697F07CDFA7B}" destId="{9E86A847-1039-4D4F-AB10-4A75BC1B048D}" srcOrd="0" destOrd="0" presId="urn:microsoft.com/office/officeart/2018/2/layout/IconVerticalSolidList"/>
    <dgm:cxn modelId="{FC070FFD-8424-44D0-AD8B-015CB252777E}" srcId="{6F6CEDB9-7961-475A-BA05-4B89A8CCB26B}" destId="{048B251C-15A1-4722-B051-2B968D322642}" srcOrd="0" destOrd="0" parTransId="{35668E59-ED74-42BE-9DEE-866A3438E28F}" sibTransId="{AF391E16-E37C-4A0D-943C-A5C0A2782C67}"/>
    <dgm:cxn modelId="{B32BE572-48D7-4CC3-984D-9DDAA8F36065}" type="presParOf" srcId="{F0533583-A01E-4D0E-914C-00C45AC98124}" destId="{2CE9FE99-A6DC-4B8B-AC15-4F41530D8B00}" srcOrd="0" destOrd="0" presId="urn:microsoft.com/office/officeart/2018/2/layout/IconVerticalSolidList"/>
    <dgm:cxn modelId="{9BACA99A-1467-49EE-B23E-FBD6E5CD9B46}" type="presParOf" srcId="{2CE9FE99-A6DC-4B8B-AC15-4F41530D8B00}" destId="{7D7EBF0C-19AB-458F-8378-7344DF600998}" srcOrd="0" destOrd="0" presId="urn:microsoft.com/office/officeart/2018/2/layout/IconVerticalSolidList"/>
    <dgm:cxn modelId="{46587D16-BA53-4341-9F84-6A42071F3C25}" type="presParOf" srcId="{2CE9FE99-A6DC-4B8B-AC15-4F41530D8B00}" destId="{43567708-2AE5-49C9-8D26-C144EAACA2A4}" srcOrd="1" destOrd="0" presId="urn:microsoft.com/office/officeart/2018/2/layout/IconVerticalSolidList"/>
    <dgm:cxn modelId="{435D896B-E310-4BD7-A5FA-7D4801CA8C73}" type="presParOf" srcId="{2CE9FE99-A6DC-4B8B-AC15-4F41530D8B00}" destId="{1D0E0990-C3E1-4E45-8519-6C9F85D4AFAA}" srcOrd="2" destOrd="0" presId="urn:microsoft.com/office/officeart/2018/2/layout/IconVerticalSolidList"/>
    <dgm:cxn modelId="{CE7A79F1-21F0-45D6-A7FA-0A81C56D15AC}" type="presParOf" srcId="{2CE9FE99-A6DC-4B8B-AC15-4F41530D8B00}" destId="{23D9FF6F-3864-4B7B-B8FF-83DCFDC45B16}" srcOrd="3" destOrd="0" presId="urn:microsoft.com/office/officeart/2018/2/layout/IconVerticalSolidList"/>
    <dgm:cxn modelId="{0FF66905-A8E4-435D-B5A7-8157BB5D5FB1}" type="presParOf" srcId="{F0533583-A01E-4D0E-914C-00C45AC98124}" destId="{BAC77B9E-C927-4F32-AF59-AEC8FD451B20}" srcOrd="1" destOrd="0" presId="urn:microsoft.com/office/officeart/2018/2/layout/IconVerticalSolidList"/>
    <dgm:cxn modelId="{4F675883-7057-4EC0-9992-EA297ED9096D}" type="presParOf" srcId="{F0533583-A01E-4D0E-914C-00C45AC98124}" destId="{83B4A746-5E41-4941-B602-AFD37265C8AD}" srcOrd="2" destOrd="0" presId="urn:microsoft.com/office/officeart/2018/2/layout/IconVerticalSolidList"/>
    <dgm:cxn modelId="{FF4D5715-FCF2-454C-98E9-C1807C90167B}" type="presParOf" srcId="{83B4A746-5E41-4941-B602-AFD37265C8AD}" destId="{FE381A51-4323-4717-B55D-F7BD8567CC3F}" srcOrd="0" destOrd="0" presId="urn:microsoft.com/office/officeart/2018/2/layout/IconVerticalSolidList"/>
    <dgm:cxn modelId="{56ACB7BC-8BB2-4336-BF1F-871A01E0709D}" type="presParOf" srcId="{83B4A746-5E41-4941-B602-AFD37265C8AD}" destId="{63661867-3E60-4812-89A1-107301FA313B}" srcOrd="1" destOrd="0" presId="urn:microsoft.com/office/officeart/2018/2/layout/IconVerticalSolidList"/>
    <dgm:cxn modelId="{12683B7E-89B2-4BD0-AC53-8F8DF16E8AC7}" type="presParOf" srcId="{83B4A746-5E41-4941-B602-AFD37265C8AD}" destId="{D103F83D-FB5A-49A2-8409-5BDE726CB145}" srcOrd="2" destOrd="0" presId="urn:microsoft.com/office/officeart/2018/2/layout/IconVerticalSolidList"/>
    <dgm:cxn modelId="{703F7AD1-B17E-4F22-9BEF-04F1127C3B6A}" type="presParOf" srcId="{83B4A746-5E41-4941-B602-AFD37265C8AD}" destId="{0CBE2641-2589-42FE-9276-48ED6DA3801F}" srcOrd="3" destOrd="0" presId="urn:microsoft.com/office/officeart/2018/2/layout/IconVerticalSolidList"/>
    <dgm:cxn modelId="{11028897-2337-42CE-9990-163794D00801}" type="presParOf" srcId="{F0533583-A01E-4D0E-914C-00C45AC98124}" destId="{A1ADB142-9DB1-4881-92D8-B4B4F7D1ABDD}" srcOrd="3" destOrd="0" presId="urn:microsoft.com/office/officeart/2018/2/layout/IconVerticalSolidList"/>
    <dgm:cxn modelId="{71616462-38C0-4B07-A66B-50241F9CAF4C}" type="presParOf" srcId="{F0533583-A01E-4D0E-914C-00C45AC98124}" destId="{55AE33EF-53B6-4BC5-BDE2-FF0F83B4C06C}" srcOrd="4" destOrd="0" presId="urn:microsoft.com/office/officeart/2018/2/layout/IconVerticalSolidList"/>
    <dgm:cxn modelId="{9FC43993-EA4F-44FD-8C6C-E15E5476C0E6}" type="presParOf" srcId="{55AE33EF-53B6-4BC5-BDE2-FF0F83B4C06C}" destId="{7C059610-2643-4CE3-B696-14D4B6058D3E}" srcOrd="0" destOrd="0" presId="urn:microsoft.com/office/officeart/2018/2/layout/IconVerticalSolidList"/>
    <dgm:cxn modelId="{79A4CEFB-F719-4273-B0F8-937FA7A51215}" type="presParOf" srcId="{55AE33EF-53B6-4BC5-BDE2-FF0F83B4C06C}" destId="{CFFBE515-EC40-4026-910B-33E3A2016AC0}" srcOrd="1" destOrd="0" presId="urn:microsoft.com/office/officeart/2018/2/layout/IconVerticalSolidList"/>
    <dgm:cxn modelId="{F7B0ECBC-F835-45C2-96DC-A6402AE6CC72}" type="presParOf" srcId="{55AE33EF-53B6-4BC5-BDE2-FF0F83B4C06C}" destId="{D1692AC7-AD6E-4656-ADE8-FB0A08A23671}" srcOrd="2" destOrd="0" presId="urn:microsoft.com/office/officeart/2018/2/layout/IconVerticalSolidList"/>
    <dgm:cxn modelId="{4E188F7F-EBFE-412F-B560-6E8B9B1C419F}" type="presParOf" srcId="{55AE33EF-53B6-4BC5-BDE2-FF0F83B4C06C}" destId="{9E86A847-1039-4D4F-AB10-4A75BC1B048D}" srcOrd="3" destOrd="0" presId="urn:microsoft.com/office/officeart/2018/2/layout/IconVerticalSolidList"/>
    <dgm:cxn modelId="{AA935A9A-6840-43D4-B303-777F58672E09}" type="presParOf" srcId="{F0533583-A01E-4D0E-914C-00C45AC98124}" destId="{7F0EC1A7-9C5F-47BA-9A32-E07361C49285}" srcOrd="5" destOrd="0" presId="urn:microsoft.com/office/officeart/2018/2/layout/IconVerticalSolidList"/>
    <dgm:cxn modelId="{FE788D23-A278-43B6-B86C-B115075E9CB2}" type="presParOf" srcId="{F0533583-A01E-4D0E-914C-00C45AC98124}" destId="{7F3438BE-9980-4730-AE52-E4D1BB18F822}" srcOrd="6" destOrd="0" presId="urn:microsoft.com/office/officeart/2018/2/layout/IconVerticalSolidList"/>
    <dgm:cxn modelId="{B058AA83-6576-497C-B95B-F80BD60823AC}" type="presParOf" srcId="{7F3438BE-9980-4730-AE52-E4D1BB18F822}" destId="{93C92166-FB0B-4E4F-A794-F3BC2693E25C}" srcOrd="0" destOrd="0" presId="urn:microsoft.com/office/officeart/2018/2/layout/IconVerticalSolidList"/>
    <dgm:cxn modelId="{A1A4597F-57A8-40A4-8DE5-46F5154372BE}" type="presParOf" srcId="{7F3438BE-9980-4730-AE52-E4D1BB18F822}" destId="{F781E36B-0B83-452E-B91A-64802E6EDAC8}" srcOrd="1" destOrd="0" presId="urn:microsoft.com/office/officeart/2018/2/layout/IconVerticalSolidList"/>
    <dgm:cxn modelId="{5DB80D05-E24E-4DDD-811A-BF9A01F23A79}" type="presParOf" srcId="{7F3438BE-9980-4730-AE52-E4D1BB18F822}" destId="{2BE1D9C6-BFB3-464E-B612-08832AC0A77D}" srcOrd="2" destOrd="0" presId="urn:microsoft.com/office/officeart/2018/2/layout/IconVerticalSolidList"/>
    <dgm:cxn modelId="{145C53F9-A149-4F4A-AAF5-DEE556084831}" type="presParOf" srcId="{7F3438BE-9980-4730-AE52-E4D1BB18F822}" destId="{4F0C69C8-1FAF-4EC7-8841-49D505C9DFC6}" srcOrd="3" destOrd="0" presId="urn:microsoft.com/office/officeart/2018/2/layout/IconVerticalSolidList"/>
    <dgm:cxn modelId="{EB791F72-5274-4F81-9515-828A13275C3C}" type="presParOf" srcId="{F0533583-A01E-4D0E-914C-00C45AC98124}" destId="{C0CA6478-30A3-4B06-8F72-4C32ACB15DEA}" srcOrd="7" destOrd="0" presId="urn:microsoft.com/office/officeart/2018/2/layout/IconVerticalSolidList"/>
    <dgm:cxn modelId="{DA7EC8EB-6E21-46E6-80C9-30DD5172B30B}" type="presParOf" srcId="{F0533583-A01E-4D0E-914C-00C45AC98124}" destId="{7BA84592-B4B5-4083-B91F-03A710E75725}" srcOrd="8" destOrd="0" presId="urn:microsoft.com/office/officeart/2018/2/layout/IconVerticalSolidList"/>
    <dgm:cxn modelId="{87AF60BB-1E98-4EA4-AA5A-79B1581C3FA8}" type="presParOf" srcId="{7BA84592-B4B5-4083-B91F-03A710E75725}" destId="{B9DB130C-D913-474B-B5D9-AFBD4B2D0450}" srcOrd="0" destOrd="0" presId="urn:microsoft.com/office/officeart/2018/2/layout/IconVerticalSolidList"/>
    <dgm:cxn modelId="{2627E16F-A0B7-49CD-AD3F-4872F5DE198E}" type="presParOf" srcId="{7BA84592-B4B5-4083-B91F-03A710E75725}" destId="{0F6E9BA7-894E-44B4-AEE3-228115BD031B}" srcOrd="1" destOrd="0" presId="urn:microsoft.com/office/officeart/2018/2/layout/IconVerticalSolidList"/>
    <dgm:cxn modelId="{FA52DD12-C458-4546-B587-F3F7BC019618}" type="presParOf" srcId="{7BA84592-B4B5-4083-B91F-03A710E75725}" destId="{AF6EE267-0721-4309-A86D-32D5D5A2D08F}" srcOrd="2" destOrd="0" presId="urn:microsoft.com/office/officeart/2018/2/layout/IconVerticalSolidList"/>
    <dgm:cxn modelId="{F649A8E3-2E2A-443F-89F9-7916F8705F98}" type="presParOf" srcId="{7BA84592-B4B5-4083-B91F-03A710E75725}" destId="{5494197E-3685-4073-8AE0-94CE0BF44B06}" srcOrd="3" destOrd="0" presId="urn:microsoft.com/office/officeart/2018/2/layout/IconVerticalSolidList"/>
    <dgm:cxn modelId="{4CF8E1C2-FEF5-4F13-AC67-3D59A8867ECB}" type="presParOf" srcId="{F0533583-A01E-4D0E-914C-00C45AC98124}" destId="{31403166-5375-49F5-AE67-B5A4A76CEE49}" srcOrd="9" destOrd="0" presId="urn:microsoft.com/office/officeart/2018/2/layout/IconVerticalSolidList"/>
    <dgm:cxn modelId="{6718FDE1-DBF5-4D44-9FC9-4B64AB87B85D}" type="presParOf" srcId="{F0533583-A01E-4D0E-914C-00C45AC98124}" destId="{1923DD93-47A2-4EBF-BE00-49569537F63E}" srcOrd="10" destOrd="0" presId="urn:microsoft.com/office/officeart/2018/2/layout/IconVerticalSolidList"/>
    <dgm:cxn modelId="{24125AAC-ADCD-43B3-9F78-EA108741C64D}" type="presParOf" srcId="{1923DD93-47A2-4EBF-BE00-49569537F63E}" destId="{0400A5F3-E2EC-47D1-991E-27783C53EF88}" srcOrd="0" destOrd="0" presId="urn:microsoft.com/office/officeart/2018/2/layout/IconVerticalSolidList"/>
    <dgm:cxn modelId="{81B8F28C-61B3-4699-93B4-4ABDBC1B927D}" type="presParOf" srcId="{1923DD93-47A2-4EBF-BE00-49569537F63E}" destId="{B24C6A02-2DF8-4AFE-9ABE-FD177685637C}" srcOrd="1" destOrd="0" presId="urn:microsoft.com/office/officeart/2018/2/layout/IconVerticalSolidList"/>
    <dgm:cxn modelId="{FE465D0F-6951-4599-83E7-01D89DC8029D}" type="presParOf" srcId="{1923DD93-47A2-4EBF-BE00-49569537F63E}" destId="{F40789DB-668A-4C5E-820D-6E19EF81EB5F}" srcOrd="2" destOrd="0" presId="urn:microsoft.com/office/officeart/2018/2/layout/IconVerticalSolidList"/>
    <dgm:cxn modelId="{E8F9836A-4B1A-4121-BA43-0D852619A03E}" type="presParOf" srcId="{1923DD93-47A2-4EBF-BE00-49569537F63E}" destId="{0B97C9A2-0BC2-4311-AB74-6A98BD67B5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7EBF0C-19AB-458F-8378-7344DF600998}">
      <dsp:nvSpPr>
        <dsp:cNvPr id="0" name=""/>
        <dsp:cNvSpPr/>
      </dsp:nvSpPr>
      <dsp:spPr>
        <a:xfrm>
          <a:off x="0" y="1783"/>
          <a:ext cx="6364224" cy="7600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567708-2AE5-49C9-8D26-C144EAACA2A4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9FF6F-3864-4B7B-B8FF-83DCFDC45B16}">
      <dsp:nvSpPr>
        <dsp:cNvPr id="0" name=""/>
        <dsp:cNvSpPr/>
      </dsp:nvSpPr>
      <dsp:spPr>
        <a:xfrm>
          <a:off x="877842" y="1783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Data Quality Tool provides a complete enterprise-ready validation pipeline, supporting:</a:t>
          </a:r>
        </a:p>
      </dsp:txBody>
      <dsp:txXfrm>
        <a:off x="877842" y="1783"/>
        <a:ext cx="5486381" cy="760036"/>
      </dsp:txXfrm>
    </dsp:sp>
    <dsp:sp modelId="{FE381A51-4323-4717-B55D-F7BD8567CC3F}">
      <dsp:nvSpPr>
        <dsp:cNvPr id="0" name=""/>
        <dsp:cNvSpPr/>
      </dsp:nvSpPr>
      <dsp:spPr>
        <a:xfrm>
          <a:off x="0" y="951829"/>
          <a:ext cx="6364224" cy="7600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61867-3E60-4812-89A1-107301FA313B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E2641-2589-42FE-9276-48ED6DA3801F}">
      <dsp:nvSpPr>
        <dsp:cNvPr id="0" name=""/>
        <dsp:cNvSpPr/>
      </dsp:nvSpPr>
      <dsp:spPr>
        <a:xfrm>
          <a:off x="877842" y="951829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Excel &amp; DB based validation</a:t>
          </a:r>
        </a:p>
      </dsp:txBody>
      <dsp:txXfrm>
        <a:off x="877842" y="951829"/>
        <a:ext cx="5486381" cy="760036"/>
      </dsp:txXfrm>
    </dsp:sp>
    <dsp:sp modelId="{7C059610-2643-4CE3-B696-14D4B6058D3E}">
      <dsp:nvSpPr>
        <dsp:cNvPr id="0" name=""/>
        <dsp:cNvSpPr/>
      </dsp:nvSpPr>
      <dsp:spPr>
        <a:xfrm>
          <a:off x="0" y="1901874"/>
          <a:ext cx="6364224" cy="7600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BE515-EC40-4026-910B-33E3A2016AC0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86A847-1039-4D4F-AB10-4A75BC1B048D}">
      <dsp:nvSpPr>
        <dsp:cNvPr id="0" name=""/>
        <dsp:cNvSpPr/>
      </dsp:nvSpPr>
      <dsp:spPr>
        <a:xfrm>
          <a:off x="877842" y="1901874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Real-time log streaming</a:t>
          </a:r>
        </a:p>
      </dsp:txBody>
      <dsp:txXfrm>
        <a:off x="877842" y="1901874"/>
        <a:ext cx="5486381" cy="760036"/>
      </dsp:txXfrm>
    </dsp:sp>
    <dsp:sp modelId="{93C92166-FB0B-4E4F-A794-F3BC2693E25C}">
      <dsp:nvSpPr>
        <dsp:cNvPr id="0" name=""/>
        <dsp:cNvSpPr/>
      </dsp:nvSpPr>
      <dsp:spPr>
        <a:xfrm>
          <a:off x="0" y="2851920"/>
          <a:ext cx="6364224" cy="7600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1E36B-0B83-452E-B91A-64802E6EDAC8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C69C8-1FAF-4EC7-8841-49D505C9DFC6}">
      <dsp:nvSpPr>
        <dsp:cNvPr id="0" name=""/>
        <dsp:cNvSpPr/>
      </dsp:nvSpPr>
      <dsp:spPr>
        <a:xfrm>
          <a:off x="877842" y="2851920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Structured reporting</a:t>
          </a:r>
        </a:p>
      </dsp:txBody>
      <dsp:txXfrm>
        <a:off x="877842" y="2851920"/>
        <a:ext cx="5486381" cy="760036"/>
      </dsp:txXfrm>
    </dsp:sp>
    <dsp:sp modelId="{B9DB130C-D913-474B-B5D9-AFBD4B2D0450}">
      <dsp:nvSpPr>
        <dsp:cNvPr id="0" name=""/>
        <dsp:cNvSpPr/>
      </dsp:nvSpPr>
      <dsp:spPr>
        <a:xfrm>
          <a:off x="0" y="3801966"/>
          <a:ext cx="6364224" cy="7600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6E9BA7-894E-44B4-AEE3-228115BD031B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4197E-3685-4073-8AE0-94CE0BF44B06}">
      <dsp:nvSpPr>
        <dsp:cNvPr id="0" name=""/>
        <dsp:cNvSpPr/>
      </dsp:nvSpPr>
      <dsp:spPr>
        <a:xfrm>
          <a:off x="877842" y="3801966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Modular architecture</a:t>
          </a:r>
        </a:p>
      </dsp:txBody>
      <dsp:txXfrm>
        <a:off x="877842" y="3801966"/>
        <a:ext cx="5486381" cy="760036"/>
      </dsp:txXfrm>
    </dsp:sp>
    <dsp:sp modelId="{0400A5F3-E2EC-47D1-991E-27783C53EF88}">
      <dsp:nvSpPr>
        <dsp:cNvPr id="0" name=""/>
        <dsp:cNvSpPr/>
      </dsp:nvSpPr>
      <dsp:spPr>
        <a:xfrm>
          <a:off x="0" y="4752011"/>
          <a:ext cx="6364224" cy="7600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C6A02-2DF8-4AFE-9ABE-FD177685637C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7C9A2-0BC2-4311-AB74-6A98BD67B568}">
      <dsp:nvSpPr>
        <dsp:cNvPr id="0" name=""/>
        <dsp:cNvSpPr/>
      </dsp:nvSpPr>
      <dsp:spPr>
        <a:xfrm>
          <a:off x="877842" y="4752011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Extensible validation layer</a:t>
          </a:r>
        </a:p>
      </dsp:txBody>
      <dsp:txXfrm>
        <a:off x="877842" y="4752011"/>
        <a:ext cx="5486381" cy="7600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34a41b0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34a41b09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b34a41b09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5">
  <p:cSld name="Title Slide 0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1388"/>
            <a:ext cx="12188951" cy="685628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0"/>
          <p:cNvSpPr txBox="1">
            <a:spLocks noGrp="1"/>
          </p:cNvSpPr>
          <p:nvPr>
            <p:ph type="ctrTitle"/>
          </p:nvPr>
        </p:nvSpPr>
        <p:spPr>
          <a:xfrm>
            <a:off x="472612" y="566928"/>
            <a:ext cx="7191910" cy="128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anken Grotesk Light"/>
              <a:buNone/>
              <a:defRPr sz="4500" b="0" i="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subTitle" idx="1"/>
          </p:nvPr>
        </p:nvSpPr>
        <p:spPr>
          <a:xfrm>
            <a:off x="472612" y="2383604"/>
            <a:ext cx="5623388" cy="2894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 i="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612" y="5730411"/>
            <a:ext cx="2103120" cy="6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0"/>
          <p:cNvSpPr txBox="1">
            <a:spLocks noGrp="1"/>
          </p:cNvSpPr>
          <p:nvPr>
            <p:ph type="body" idx="2"/>
          </p:nvPr>
        </p:nvSpPr>
        <p:spPr>
          <a:xfrm>
            <a:off x="3451706" y="6039778"/>
            <a:ext cx="2644294" cy="289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9"/>
          <p:cNvSpPr txBox="1"/>
          <p:nvPr/>
        </p:nvSpPr>
        <p:spPr>
          <a:xfrm>
            <a:off x="5253800" y="6642100"/>
            <a:ext cx="170973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Revvity Proprietary Information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429944" y="2786865"/>
            <a:ext cx="7191910" cy="128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anken Grotesk Light"/>
              <a:buNone/>
            </a:pPr>
            <a:r>
              <a:rPr lang="en-US" sz="4800" b="1" dirty="0" err="1">
                <a:latin typeface="Colonna MT" panose="04020805060202030203" pitchFamily="82" charset="0"/>
                <a:ea typeface="HGGothicE" panose="020B0400000000000000" pitchFamily="49" charset="-128"/>
              </a:rPr>
              <a:t>Revvity</a:t>
            </a:r>
            <a:r>
              <a:rPr lang="en-US" sz="4800" b="1" dirty="0">
                <a:latin typeface="Colonna MT" panose="04020805060202030203" pitchFamily="82" charset="0"/>
                <a:ea typeface="HGGothicE" panose="020B0400000000000000" pitchFamily="49" charset="-128"/>
              </a:rPr>
              <a:t> Data Quality Tool </a:t>
            </a:r>
            <a:endParaRPr sz="4800" dirty="0">
              <a:latin typeface="Colonna MT" panose="04020805060202030203" pitchFamily="82" charset="0"/>
              <a:ea typeface="HGGothicE" panose="020B0400000000000000" pitchFamily="49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6B4F64-33D6-D97F-EEDA-EAA05D99A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rPr>
              <a:t>REVVITY DATA QUALITY TOOL</a:t>
            </a:r>
            <a:endParaRPr lang="en-US" sz="3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1" name="Arc 1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4294967295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sz="2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200" kern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Revvity</a:t>
            </a:r>
            <a:r>
              <a:rPr lang="en-US" sz="2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Quality Tool (DQT) is an automated enterprise validation framework built to assess, cleanse, and standardize customer master data sourced from both PostgreSQL databases and Excel files.</a:t>
            </a:r>
          </a:p>
          <a:p>
            <a:pPr lvl="0" indent="-3429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sz="2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applies a robust multi-rule validation engine covering Name, Address, Region, Country, Postal, and City, ensures global compliance through ISO-based lookups, and generates a comprehensive, audit-ready Excel report enriched with validation results, statistics, and charts.</a:t>
            </a:r>
          </a:p>
          <a:p>
            <a:pPr lvl="0" indent="-3429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sz="2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DQT supports real-time log streaming, web-based execution, and database </a:t>
            </a:r>
            <a:r>
              <a:rPr lang="en-US" sz="2200" kern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upsert</a:t>
            </a:r>
            <a:r>
              <a:rPr lang="en-US" sz="2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flows, providing a seamless end-to-end data quality assurance pipeline.</a:t>
            </a:r>
          </a:p>
          <a:p>
            <a:pPr marL="469900" lvl="0" indent="-228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52EF8-B4C8-68B4-9553-B1C681DC3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118" name="Arc 11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Google Shape;109;g3b34a41b091_0_0"/>
          <p:cNvSpPr txBox="1">
            <a:spLocks noGrp="1"/>
          </p:cNvSpPr>
          <p:nvPr>
            <p:ph type="body" idx="4294967295"/>
          </p:nvPr>
        </p:nvSpPr>
        <p:spPr>
          <a:xfrm>
            <a:off x="4305300" y="1531302"/>
            <a:ext cx="7581900" cy="408343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Autofit/>
          </a:bodyPr>
          <a:lstStyle/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 Quality Tool (DQT) is an automated validation framework designed to evaluate customer master data coming from two primary sources:</a:t>
            </a: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2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A PostgreSQL database (DB Mode)</a:t>
            </a: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An uploaded Excel file (Excel Mode)</a:t>
            </a: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None/>
            </a:pP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Checkmark">
            <a:extLst>
              <a:ext uri="{FF2B5EF4-FFF2-40B4-BE49-F238E27FC236}">
                <a16:creationId xmlns:a16="http://schemas.microsoft.com/office/drawing/2014/main" id="{29AA9784-0965-CF57-6E37-5C24A1630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5494" y="2498558"/>
            <a:ext cx="1316205" cy="1316205"/>
          </a:xfrm>
          <a:prstGeom prst="rect">
            <a:avLst/>
          </a:prstGeom>
        </p:spPr>
      </p:pic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004DB8A-B72C-E56D-74A1-0DED59FE7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63160" y="592667"/>
            <a:ext cx="6327139" cy="6024033"/>
          </a:xfrm>
        </p:spPr>
        <p:txBody>
          <a:bodyPr anchor="ctr">
            <a:noAutofit/>
          </a:bodyPr>
          <a:lstStyle/>
          <a:p>
            <a:pPr marL="0" lvl="0" indent="0">
              <a:buSzPct val="100000"/>
              <a:buNone/>
            </a:pPr>
            <a:r>
              <a:rPr lang="en-US" sz="19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tool ensures the correctness of:</a:t>
            </a:r>
            <a:endPara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Name</a:t>
            </a:r>
          </a:p>
          <a:p>
            <a:pPr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 Line 1</a:t>
            </a:r>
          </a:p>
          <a:p>
            <a:pPr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</a:t>
            </a:r>
          </a:p>
          <a:p>
            <a:pPr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 Code</a:t>
            </a:r>
          </a:p>
          <a:p>
            <a:pPr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Country Code</a:t>
            </a:r>
          </a:p>
          <a:p>
            <a:pPr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Postal Code</a:t>
            </a:r>
          </a:p>
          <a:p>
            <a:pPr marL="0" lvl="0" indent="0">
              <a:buSzPct val="100000"/>
              <a:buNone/>
            </a:pPr>
            <a:r>
              <a:rPr lang="en-US" sz="19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generates:</a:t>
            </a:r>
            <a:endPara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0055"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detailed </a:t>
            </a:r>
            <a:r>
              <a:rPr lang="en-US" sz="19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validation report</a:t>
            </a:r>
            <a:endPara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0055"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Pass/Fail status</a:t>
            </a: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each rule</a:t>
            </a:r>
          </a:p>
          <a:p>
            <a:pPr marL="440055"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Remarks explaining failures</a:t>
            </a:r>
            <a:endPara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0055"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9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sheet</a:t>
            </a: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statistics &amp; charts</a:t>
            </a:r>
          </a:p>
          <a:p>
            <a:pPr marL="228600"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tool also supports:</a:t>
            </a:r>
            <a:endPara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Log Streaming (SSE)</a:t>
            </a:r>
          </a:p>
          <a:p>
            <a:pPr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 Download via UI</a:t>
            </a:r>
          </a:p>
          <a:p>
            <a:pPr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configuration</a:t>
            </a:r>
          </a:p>
          <a:p>
            <a:pPr lvl="0" indent="-457200">
              <a:buSzPct val="100000"/>
              <a:buFont typeface="Wingdings" panose="05000000000000000000" pitchFamily="2" charset="2"/>
              <a:buChar char="Ø"/>
            </a:pP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</a:t>
            </a:r>
            <a:r>
              <a:rPr lang="en-US" sz="1900" kern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upsert</a:t>
            </a:r>
            <a:r>
              <a:rPr lang="en-US" sz="19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validated results</a:t>
            </a:r>
          </a:p>
          <a:p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420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A069A-C5AE-842F-5DF7-1B664352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153572"/>
            <a:ext cx="3531634" cy="4461163"/>
          </a:xfrm>
        </p:spPr>
        <p:txBody>
          <a:bodyPr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  <a:latin typeface="+mj-lt"/>
                <a:cs typeface="Lao UI" panose="020B0502040204020203" pitchFamily="34" charset="0"/>
              </a:rPr>
              <a:t>OBJECTIVES and KEY FEATURES</a:t>
            </a:r>
            <a:endParaRPr lang="en-IN" sz="3100" dirty="0">
              <a:solidFill>
                <a:srgbClr val="FFFFFF"/>
              </a:solidFill>
              <a:latin typeface="+mj-lt"/>
              <a:cs typeface="Lao UI" panose="020B0502040204020203" pitchFamily="34" charset="0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1CBA8-BB30-8A57-3BAB-25CC89FB9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lvl="0" indent="0">
              <a:buSzPts val="1200"/>
              <a:buNone/>
            </a:pPr>
            <a:endParaRPr lang="en-US" sz="1800" dirty="0"/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Automate customer master data validation</a:t>
            </a:r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Provide consistent rule-based validation</a:t>
            </a:r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Support real-time execution logs</a:t>
            </a:r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Enable downloadable reports for audit tracking</a:t>
            </a:r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Ensure accurate postal, region, and address validation for global customer data</a:t>
            </a:r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Validate customer master records</a:t>
            </a:r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Support DB Mode &amp; Excel Mode</a:t>
            </a:r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Country-wise postal regex validation</a:t>
            </a:r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Region validation from DB reference table</a:t>
            </a:r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Auto-generated Excel reports</a:t>
            </a:r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Web UI with log console</a:t>
            </a:r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Server-Sent Event live logs</a:t>
            </a:r>
          </a:p>
          <a:p>
            <a:pPr lvl="0" indent="-457200">
              <a:buSzPts val="1200"/>
              <a:buFont typeface="Wingdings" panose="05000000000000000000" pitchFamily="2" charset="2"/>
              <a:buChar char="Ø"/>
            </a:pPr>
            <a:r>
              <a:rPr lang="en-US" sz="1800" dirty="0"/>
              <a:t>Clean module separation (Core vs Web)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00675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2" name="Rectangle 15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805998" y="502348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ctr">
              <a:spcBef>
                <a:spcPct val="0"/>
              </a:spcBef>
              <a:spcAft>
                <a:spcPts val="0"/>
              </a:spcAft>
              <a:buClr>
                <a:schemeClr val="lt1"/>
              </a:buClr>
              <a:buSzPts val="3200"/>
            </a:pP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Play"/>
              </a:rPr>
              <a:t> HIGH-LEVEL ARCHITECTURE</a:t>
            </a:r>
            <a:endParaRPr lang="en-US" sz="3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8" name="Google Shape;128;p6" descr="A screenshot of a computer&#10;&#10;AI-generated content may be incorrect."/>
          <p:cNvPicPr preferRelativeResize="0"/>
          <p:nvPr/>
        </p:nvPicPr>
        <p:blipFill rotWithShape="1">
          <a:blip r:embed="rId3"/>
          <a:stretch/>
        </p:blipFill>
        <p:spPr>
          <a:xfrm>
            <a:off x="805998" y="2066258"/>
            <a:ext cx="10580003" cy="43558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C2B522-6DD6-B985-E330-217C2A26B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8" y="1198418"/>
            <a:ext cx="4308678" cy="4461163"/>
          </a:xfrm>
        </p:spPr>
        <p:txBody>
          <a:bodyPr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  <a:latin typeface="+mj-lt"/>
                <a:cs typeface="Lao UI" panose="020F0502020204030204" pitchFamily="34" charset="0"/>
              </a:rPr>
              <a:t>FUNCTIONAL FLOW</a:t>
            </a:r>
            <a:br>
              <a:rPr lang="en-US" sz="3100" dirty="0">
                <a:solidFill>
                  <a:srgbClr val="FFFFFF"/>
                </a:solidFill>
                <a:latin typeface="+mj-lt"/>
                <a:cs typeface="Lao UI" panose="020F0502020204030204" pitchFamily="34" charset="0"/>
              </a:rPr>
            </a:br>
            <a:r>
              <a:rPr lang="en-US" sz="3100" dirty="0">
                <a:solidFill>
                  <a:srgbClr val="FFFFFF"/>
                </a:solidFill>
                <a:latin typeface="+mj-lt"/>
                <a:cs typeface="Lao UI" panose="020F0502020204030204" pitchFamily="34" charset="0"/>
              </a:rPr>
              <a:t>DB Mode</a:t>
            </a:r>
            <a:br>
              <a:rPr lang="en-US" sz="3100" dirty="0">
                <a:solidFill>
                  <a:srgbClr val="FFFFFF"/>
                </a:solidFill>
                <a:latin typeface="+mj-lt"/>
                <a:cs typeface="Lao UI" panose="020F0502020204030204" pitchFamily="34" charset="0"/>
              </a:rPr>
            </a:br>
            <a:endParaRPr lang="en-IN" sz="3100" dirty="0">
              <a:solidFill>
                <a:srgbClr val="FFFFFF"/>
              </a:solidFill>
              <a:latin typeface="+mj-lt"/>
              <a:cs typeface="Lao UI" panose="020F0502020204030204" pitchFamily="34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6DFCCA-119D-A486-E4EB-511C25384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lvl="0" indent="0">
              <a:buSzPct val="100000"/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User triggers DB Mode from UI.</a:t>
            </a:r>
          </a:p>
          <a:p>
            <a:pPr marL="0" lvl="0" indent="0">
              <a:buSzPct val="100000"/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RunController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invokes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DataQualityTool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>
              <a:buSzPct val="100000"/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ConfigReader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loads DB configuration.</a:t>
            </a:r>
          </a:p>
          <a:p>
            <a:pPr marL="0" lvl="0" indent="0">
              <a:buSzPct val="100000"/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 Tool connects to PostgreSQL and fetches rows.</a:t>
            </a:r>
          </a:p>
          <a:p>
            <a:pPr marL="0" lvl="0" indent="0">
              <a:buSzPct val="100000"/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5: Validators process each record.</a:t>
            </a:r>
          </a:p>
          <a:p>
            <a:pPr marL="0" lvl="0" indent="0">
              <a:buSzPct val="100000"/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6: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ExcelReportGenerator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produces output.</a:t>
            </a:r>
          </a:p>
          <a:p>
            <a:pPr marL="0" lvl="0" indent="0">
              <a:buSzPct val="100000"/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7: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Upsert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operation stores validated results back to DB table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data_quality_tool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</a:t>
            </a:r>
          </a:p>
          <a:p>
            <a:pPr marL="0" lvl="0" indent="0">
              <a:buSzPct val="100000"/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8: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ReportTracker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stores latest report path.</a:t>
            </a:r>
          </a:p>
          <a:p>
            <a:pPr marL="0" lvl="0" indent="0">
              <a:buSzPct val="100000"/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9: User downloads report from UI.</a:t>
            </a:r>
          </a:p>
          <a:p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85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C94997-9287-0AE8-A304-D3A587BC1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0810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of DB Mode</a:t>
            </a:r>
          </a:p>
        </p:txBody>
      </p:sp>
      <p:sp>
        <p:nvSpPr>
          <p:cNvPr id="4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oogle Shape;136;p7" descr="A diagram of a computer&#10;&#10;AI-generated content may be incorrect.">
            <a:extLst>
              <a:ext uri="{FF2B5EF4-FFF2-40B4-BE49-F238E27FC236}">
                <a16:creationId xmlns:a16="http://schemas.microsoft.com/office/drawing/2014/main" id="{F2C491F4-5807-BD82-B78E-164F230A1E62}"/>
              </a:ext>
            </a:extLst>
          </p:cNvPr>
          <p:cNvPicPr preferRelativeResize="0"/>
          <p:nvPr/>
        </p:nvPicPr>
        <p:blipFill rotWithShape="1">
          <a:blip r:embed="rId2"/>
          <a:srcRect r="5333"/>
          <a:stretch>
            <a:fillRect/>
          </a:stretch>
        </p:blipFill>
        <p:spPr>
          <a:xfrm>
            <a:off x="638881" y="1770030"/>
            <a:ext cx="11032419" cy="47704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3913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FDA3E0-6624-5515-70CF-36CB622B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87" y="1411000"/>
            <a:ext cx="5129766" cy="4461163"/>
          </a:xfrm>
        </p:spPr>
        <p:txBody>
          <a:bodyPr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  <a:latin typeface="+mj-lt"/>
                <a:cs typeface="Lao UI" panose="020F0502020204030204" pitchFamily="34" charset="0"/>
              </a:rPr>
              <a:t>FUNCTIONAL FLOW</a:t>
            </a:r>
            <a:br>
              <a:rPr lang="en-US" sz="3100" dirty="0">
                <a:solidFill>
                  <a:srgbClr val="FFFFFF"/>
                </a:solidFill>
                <a:latin typeface="+mj-lt"/>
              </a:rPr>
            </a:br>
            <a:r>
              <a:rPr lang="en-US" sz="3100" dirty="0">
                <a:solidFill>
                  <a:srgbClr val="FFFFFF"/>
                </a:solidFill>
                <a:latin typeface="+mj-lt"/>
              </a:rPr>
              <a:t>Excel Mode</a:t>
            </a:r>
            <a:br>
              <a:rPr lang="en-US" sz="3100" dirty="0">
                <a:solidFill>
                  <a:srgbClr val="FFFFFF"/>
                </a:solidFill>
                <a:latin typeface="+mj-lt"/>
              </a:rPr>
            </a:br>
            <a:endParaRPr lang="en-IN" sz="31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0304A4B-2BAB-14F5-E3B5-C464A7D6F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lvl="0" indent="0">
              <a:buSzPts val="12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uploads Excel file.</a:t>
            </a:r>
          </a:p>
          <a:p>
            <a:pPr marL="0" lvl="0" indent="0">
              <a:buSzPts val="12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RunController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stores file into temporary directory.</a:t>
            </a:r>
          </a:p>
          <a:p>
            <a:pPr marL="0" lvl="0" indent="0">
              <a:buSzPts val="12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DataQualityExcelTool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loads config and parses the file.</a:t>
            </a:r>
          </a:p>
          <a:p>
            <a:pPr marL="0" lvl="0" indent="0">
              <a:buSzPts val="12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Header validation ensures correct template usage.</a:t>
            </a:r>
          </a:p>
          <a:p>
            <a:pPr marL="0" lvl="0" indent="0">
              <a:buSzPts val="12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5: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Validators evaluate each record with DB lookups.</a:t>
            </a:r>
          </a:p>
          <a:p>
            <a:pPr marL="0" lvl="0" indent="0">
              <a:buSzPts val="12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6: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valid record will be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upserted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excel_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data_quality_tool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 </a:t>
            </a:r>
          </a:p>
          <a:p>
            <a:pPr marL="0" lvl="0" indent="0">
              <a:buSzPts val="12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7: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ExcelReportGenerator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produces the final report with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upsert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logics</a:t>
            </a:r>
          </a:p>
          <a:p>
            <a:pPr marL="0" lvl="0" indent="0">
              <a:buSzPts val="12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8: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ReportTracker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stores generated report path.</a:t>
            </a:r>
          </a:p>
          <a:p>
            <a:pPr marL="0" lvl="0" indent="0">
              <a:buSzPts val="12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9: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downloads final report.</a:t>
            </a:r>
          </a:p>
          <a:p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234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FDBA0-775E-474D-75CF-58647304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7212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		Architecture of Excel Mode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oogle Shape;143;p8" descr="A diagram of a company">
            <a:extLst>
              <a:ext uri="{FF2B5EF4-FFF2-40B4-BE49-F238E27FC236}">
                <a16:creationId xmlns:a16="http://schemas.microsoft.com/office/drawing/2014/main" id="{E2DB4278-DAE9-33EE-3ED9-0B3842B69960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1003300" y="1806606"/>
            <a:ext cx="10291221" cy="47211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5946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EBC4D-0E72-3AF4-45CB-1EB347F0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  <a:latin typeface="+mj-lt"/>
              </a:rPr>
              <a:t>VALIDATION RULES</a:t>
            </a:r>
            <a:br>
              <a:rPr lang="en-US" sz="3700" dirty="0">
                <a:solidFill>
                  <a:srgbClr val="FFFFFF"/>
                </a:solidFill>
                <a:latin typeface="+mj-lt"/>
              </a:rPr>
            </a:br>
            <a:endParaRPr lang="en-IN" sz="37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213B7-767B-8972-12A0-B95E4C5CF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Name Validation</a:t>
            </a: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spcBef>
                <a:spcPts val="0"/>
              </a:spcBef>
              <a:buNone/>
            </a:pPr>
            <a:endParaRPr lang="en-US"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cannot be empty or null.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Length must be between 5 and 200 characters.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special characters like (!,?, %).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Name cannot contain email-like patterns (@, .com, .in,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.net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etc.)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Common Names like TEST, DEMO, SAMPLE are not allowed.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Sequential patterns like ABC or QWE are not allowed.</a:t>
            </a:r>
          </a:p>
          <a:p>
            <a:pPr marL="285750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961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FEB67-96FF-0671-601E-30FB81A9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+mj-lt"/>
              </a:rPr>
              <a:t>Address Validation</a:t>
            </a:r>
            <a:br>
              <a:rPr lang="en-US" dirty="0">
                <a:solidFill>
                  <a:srgbClr val="FFFFFF"/>
                </a:solidFill>
                <a:latin typeface="+mj-lt"/>
              </a:rPr>
            </a:br>
            <a:endParaRPr lang="en-IN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8F8D4-3102-D90E-78F5-345C59913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lang="en-US"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Address Line 1 is null → invalid (no region added).</a:t>
            </a:r>
          </a:p>
          <a:p>
            <a:pPr lvl="0" indent="-4572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Otherwise, AddressLine1 = Address Line 1 + Region(Valid).</a:t>
            </a:r>
          </a:p>
          <a:p>
            <a:pPr lvl="0" indent="-4572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Minimum length: 10; Maximum length: 100.</a:t>
            </a:r>
          </a:p>
          <a:p>
            <a:pPr lvl="0" indent="-4572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Cannot have special characters (!, ?, %).</a:t>
            </a:r>
          </a:p>
          <a:p>
            <a:pPr lvl="0" indent="-4572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Only alphabets, numbers, commas, periods, and spaces are allowed.</a:t>
            </a:r>
          </a:p>
          <a:p>
            <a:pPr lvl="0" indent="-4572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Placeholder words like TEST or DEMO are rejected.</a:t>
            </a:r>
          </a:p>
          <a:p>
            <a:pPr lvl="0" indent="-4572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Sequential patterns like ABC or QWE are not allowed.</a:t>
            </a:r>
          </a:p>
          <a:p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509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C878A-EE36-9FCE-173B-2519987D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180" y="1653277"/>
            <a:ext cx="3240506" cy="4064628"/>
          </a:xfrm>
        </p:spPr>
        <p:txBody>
          <a:bodyPr>
            <a:normAutofit/>
          </a:bodyPr>
          <a:lstStyle/>
          <a:p>
            <a:r>
              <a:rPr lang="en-US" sz="4100" b="1" dirty="0">
                <a:solidFill>
                  <a:srgbClr val="FFFFFF"/>
                </a:solidFill>
                <a:latin typeface="+mj-lt"/>
              </a:rPr>
              <a:t>Region and Postal Code Validations</a:t>
            </a:r>
            <a:br>
              <a:rPr lang="en-US" sz="4100" dirty="0">
                <a:solidFill>
                  <a:srgbClr val="FFFFFF"/>
                </a:solidFill>
                <a:latin typeface="+mj-lt"/>
              </a:rPr>
            </a:br>
            <a:br>
              <a:rPr lang="en-US" sz="4100" dirty="0">
                <a:solidFill>
                  <a:srgbClr val="FFFFFF"/>
                </a:solidFill>
                <a:latin typeface="+mj-lt"/>
              </a:rPr>
            </a:br>
            <a:endParaRPr lang="en-IN" sz="41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C85BE-0483-994E-474C-9131EA3A8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4975" y="408518"/>
            <a:ext cx="6056525" cy="6055781"/>
          </a:xfrm>
        </p:spPr>
        <p:txBody>
          <a:bodyPr anchor="t">
            <a:noAutofit/>
          </a:bodyPr>
          <a:lstStyle/>
          <a:p>
            <a:pPr marL="0" lvl="0" indent="0">
              <a:spcBef>
                <a:spcPts val="0"/>
              </a:spcBef>
              <a:buSzPts val="12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 Validation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>
              <a:buSzPts val="11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DB table: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country_region_postal_validation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SzPts val="11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Checks:</a:t>
            </a:r>
          </a:p>
          <a:p>
            <a:pPr marL="342900" lvl="0">
              <a:buSzPts val="11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 country code (alpha2 or alpha3)</a:t>
            </a:r>
          </a:p>
          <a:p>
            <a:pPr marL="342900" lvl="0">
              <a:buSzPts val="11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region is mandatory</a:t>
            </a:r>
          </a:p>
          <a:p>
            <a:pPr marL="342900" lvl="0">
              <a:buSzPts val="11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 matches DB lookup list from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country_region_postal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 validation Table</a:t>
            </a:r>
          </a:p>
          <a:p>
            <a:pPr marL="0" lvl="0" indent="0">
              <a:buSzPts val="12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Postal Code Validation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SzPts val="11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Postal Code cannot be empty or null if the country requires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postel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 uses DB table: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country_region_postal_validation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SzPts val="11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Country must be a valid ISO 3166 name or code.</a:t>
            </a:r>
          </a:p>
          <a:p>
            <a:pPr marL="285750" lvl="0" indent="-285750">
              <a:buSzPts val="11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a regex pattern exists for the country, it validates using that pattern.</a:t>
            </a:r>
          </a:p>
          <a:p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9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2F57D-4C9C-12AF-38E3-C66D4C956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rPr>
              <a:t>Fuzzy match with Customer Table for valid data to find the Valid Record is already Existed </a:t>
            </a:r>
            <a:b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1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C38948-67B7-C93A-D89F-2D83A85A5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2" y="3153420"/>
            <a:ext cx="12005318" cy="217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11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4C298A-3CC2-9A9F-C84D-F79D440D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281" y="372125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6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CONFIGURATION</a:t>
            </a: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3546C-B34B-2C55-D1BB-79EA13BBB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076" y="1064336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runtime settings come from userfile.xlsx: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A2E6D-42E2-50C0-35DB-7AB4C9E44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292" y="2050113"/>
            <a:ext cx="7981308" cy="437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0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890F5-2CB9-B125-14B9-177505657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US" sz="3800" b="1">
                <a:solidFill>
                  <a:srgbClr val="FFFFFF"/>
                </a:solidFill>
                <a:latin typeface="+mj-lt"/>
              </a:rPr>
              <a:t>Source Table (from configuration)</a:t>
            </a:r>
            <a:br>
              <a:rPr lang="en-US" sz="3800">
                <a:solidFill>
                  <a:srgbClr val="FFFFFF"/>
                </a:solidFill>
                <a:latin typeface="+mj-lt"/>
              </a:rPr>
            </a:br>
            <a:endParaRPr lang="en-IN" sz="38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08500-BD0C-F603-F170-E4B5600F9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1504294"/>
            <a:ext cx="5254754" cy="5294647"/>
          </a:xfrm>
        </p:spPr>
        <p:txBody>
          <a:bodyPr>
            <a:normAutofit/>
          </a:bodyPr>
          <a:lstStyle/>
          <a:p>
            <a:pPr marL="0" lvl="0" indent="0">
              <a:buSzPct val="100000"/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 (as per userfile.xlsx):</a:t>
            </a: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</a:t>
            </a: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Customer_name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Address_locality_line_1</a:t>
            </a: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Address_city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Region_code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Address_country_code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Address_postal_code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Duns_number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865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2407B-43EC-F1C0-AA04-C1942FB03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EB45A29-167C-FE6E-099E-98A3CA0CF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14F6196-10C3-F239-700E-C45B546F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E0E2A-546C-FED7-A7BB-B494426A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46" y="1239290"/>
            <a:ext cx="4635500" cy="830524"/>
          </a:xfrm>
        </p:spPr>
        <p:txBody>
          <a:bodyPr anchor="t">
            <a:normAutofit fontScale="90000"/>
          </a:bodyPr>
          <a:lstStyle/>
          <a:p>
            <a:r>
              <a:rPr lang="en-US" sz="3800" b="1" dirty="0">
                <a:solidFill>
                  <a:srgbClr val="FFFFFF"/>
                </a:solidFill>
                <a:latin typeface="+mj-lt"/>
              </a:rPr>
              <a:t>Primary Reference Table(</a:t>
            </a:r>
            <a:r>
              <a:rPr lang="en-US" sz="3800" b="1" dirty="0" err="1">
                <a:solidFill>
                  <a:srgbClr val="FFFFFF"/>
                </a:solidFill>
                <a:latin typeface="+mj-lt"/>
              </a:rPr>
              <a:t>country_region_postal_validation</a:t>
            </a:r>
            <a:r>
              <a:rPr lang="en-US" sz="3800" b="1" dirty="0">
                <a:solidFill>
                  <a:srgbClr val="FFFFFF"/>
                </a:solidFill>
                <a:latin typeface="+mj-lt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C5110-FB2A-F445-486E-F651F7D81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9535" y="2069814"/>
            <a:ext cx="5254754" cy="5294647"/>
          </a:xfrm>
        </p:spPr>
        <p:txBody>
          <a:bodyPr>
            <a:normAutofit/>
          </a:bodyPr>
          <a:lstStyle/>
          <a:p>
            <a:pPr marL="0" lvl="0" indent="0">
              <a:buSzPct val="100000"/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Columns:</a:t>
            </a: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alpha2code</a:t>
            </a: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alpha3code</a:t>
            </a: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ebxregioncode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__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regioncode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requires region</a:t>
            </a:r>
          </a:p>
          <a:p>
            <a:pPr marL="342900" lvl="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Postel Code</a:t>
            </a:r>
          </a:p>
        </p:txBody>
      </p:sp>
    </p:spTree>
    <p:extLst>
      <p:ext uri="{BB962C8B-B14F-4D97-AF65-F5344CB8AC3E}">
        <p14:creationId xmlns:p14="http://schemas.microsoft.com/office/powerpoint/2010/main" val="1757192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Database">
            <a:extLst>
              <a:ext uri="{FF2B5EF4-FFF2-40B4-BE49-F238E27FC236}">
                <a16:creationId xmlns:a16="http://schemas.microsoft.com/office/drawing/2014/main" id="{CD179024-D15D-86AD-A0CE-B8ECE7CB0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9" y="1744516"/>
            <a:ext cx="3121212" cy="3121212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204AE-275E-72FC-5464-B43718BAC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457201"/>
            <a:ext cx="5337270" cy="1835911"/>
          </a:xfrm>
        </p:spPr>
        <p:txBody>
          <a:bodyPr anchor="b">
            <a:normAutofit/>
          </a:bodyPr>
          <a:lstStyle/>
          <a:p>
            <a:r>
              <a:rPr lang="en-US" sz="4200" b="1" dirty="0">
                <a:solidFill>
                  <a:srgbClr val="FFFFFF"/>
                </a:solidFill>
                <a:latin typeface="+mj-lt"/>
              </a:rPr>
              <a:t>Output Table for DB mode and Excel Mode</a:t>
            </a:r>
            <a:endParaRPr lang="en-IN" sz="4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onnsiteX0" fmla="*/ 0 w 5029200"/>
              <a:gd name="connsiteY0" fmla="*/ 0 h 18288"/>
              <a:gd name="connsiteX1" fmla="*/ 528066 w 5029200"/>
              <a:gd name="connsiteY1" fmla="*/ 0 h 18288"/>
              <a:gd name="connsiteX2" fmla="*/ 1207008 w 5029200"/>
              <a:gd name="connsiteY2" fmla="*/ 0 h 18288"/>
              <a:gd name="connsiteX3" fmla="*/ 1785366 w 5029200"/>
              <a:gd name="connsiteY3" fmla="*/ 0 h 18288"/>
              <a:gd name="connsiteX4" fmla="*/ 2313432 w 5029200"/>
              <a:gd name="connsiteY4" fmla="*/ 0 h 18288"/>
              <a:gd name="connsiteX5" fmla="*/ 2992374 w 5029200"/>
              <a:gd name="connsiteY5" fmla="*/ 0 h 18288"/>
              <a:gd name="connsiteX6" fmla="*/ 3621024 w 5029200"/>
              <a:gd name="connsiteY6" fmla="*/ 0 h 18288"/>
              <a:gd name="connsiteX7" fmla="*/ 4249674 w 5029200"/>
              <a:gd name="connsiteY7" fmla="*/ 0 h 18288"/>
              <a:gd name="connsiteX8" fmla="*/ 5029200 w 5029200"/>
              <a:gd name="connsiteY8" fmla="*/ 0 h 18288"/>
              <a:gd name="connsiteX9" fmla="*/ 5029200 w 5029200"/>
              <a:gd name="connsiteY9" fmla="*/ 18288 h 18288"/>
              <a:gd name="connsiteX10" fmla="*/ 4501134 w 5029200"/>
              <a:gd name="connsiteY10" fmla="*/ 18288 h 18288"/>
              <a:gd name="connsiteX11" fmla="*/ 4023360 w 5029200"/>
              <a:gd name="connsiteY11" fmla="*/ 18288 h 18288"/>
              <a:gd name="connsiteX12" fmla="*/ 3344418 w 5029200"/>
              <a:gd name="connsiteY12" fmla="*/ 18288 h 18288"/>
              <a:gd name="connsiteX13" fmla="*/ 2816352 w 5029200"/>
              <a:gd name="connsiteY13" fmla="*/ 18288 h 18288"/>
              <a:gd name="connsiteX14" fmla="*/ 2137410 w 5029200"/>
              <a:gd name="connsiteY14" fmla="*/ 18288 h 18288"/>
              <a:gd name="connsiteX15" fmla="*/ 1408176 w 5029200"/>
              <a:gd name="connsiteY15" fmla="*/ 18288 h 18288"/>
              <a:gd name="connsiteX16" fmla="*/ 829818 w 5029200"/>
              <a:gd name="connsiteY16" fmla="*/ 18288 h 18288"/>
              <a:gd name="connsiteX17" fmla="*/ 0 w 5029200"/>
              <a:gd name="connsiteY17" fmla="*/ 18288 h 18288"/>
              <a:gd name="connsiteX18" fmla="*/ 0 w 5029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36E0D-E841-69A7-BEE7-E82262069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7200" y="2615694"/>
            <a:ext cx="5683249" cy="3599981"/>
          </a:xfrm>
        </p:spPr>
        <p:txBody>
          <a:bodyPr anchor="t">
            <a:normAutofit/>
          </a:bodyPr>
          <a:lstStyle/>
          <a:p>
            <a:pPr marL="0" lvl="0" indent="0">
              <a:buSzPct val="100000"/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 for DB mode </a:t>
            </a:r>
            <a:endParaRPr lang="en-US" sz="2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SzPct val="100000"/>
              <a:buNone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name : </a:t>
            </a:r>
            <a:r>
              <a:rPr lang="en-US" sz="2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data_quality_check</a:t>
            </a:r>
            <a:endParaRPr lang="en-US" sz="2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in DB Mode to </a:t>
            </a:r>
            <a:r>
              <a:rPr lang="en-US" sz="2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upsert</a:t>
            </a: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validation results and the table can contain both valid and invalid records </a:t>
            </a:r>
          </a:p>
          <a:p>
            <a:pPr marL="0" lvl="0" indent="0">
              <a:buSzPct val="100000"/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 for DB mode </a:t>
            </a:r>
            <a:endParaRPr lang="en-US" sz="2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SzPct val="100000"/>
              <a:buNone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name :</a:t>
            </a:r>
            <a:r>
              <a:rPr lang="en-US" sz="2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exel_data_quality_check</a:t>
            </a:r>
            <a:endParaRPr lang="en-US" sz="2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SzPct val="100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in DB Mode to </a:t>
            </a:r>
            <a:r>
              <a:rPr lang="en-US" sz="2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upsert</a:t>
            </a: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validation results and the table contains only valid records </a:t>
            </a:r>
          </a:p>
          <a:p>
            <a:endParaRPr lang="en-IN" sz="22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941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74BF28-4C58-1700-4ABA-183F6B2C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900" y="186331"/>
            <a:ext cx="10515600" cy="1325563"/>
          </a:xfrm>
        </p:spPr>
        <p:txBody>
          <a:bodyPr/>
          <a:lstStyle/>
          <a:p>
            <a:r>
              <a:rPr lang="en-US" dirty="0">
                <a:latin typeface="+mj-lt"/>
              </a:rPr>
              <a:t>  Report Generation</a:t>
            </a:r>
            <a:endParaRPr lang="en-IN"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2CCD6-5314-F514-E53F-768DCABE2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28737"/>
            <a:ext cx="5067300" cy="4532313"/>
          </a:xfrm>
        </p:spPr>
        <p:txBody>
          <a:bodyPr>
            <a:noAutofit/>
          </a:bodyPr>
          <a:lstStyle/>
          <a:p>
            <a:pPr marL="0" lvl="0" indent="0">
              <a:buSzPts val="1100"/>
              <a:buNone/>
            </a:pPr>
            <a:r>
              <a:rPr lang="en-US" sz="2000" b="1" kern="1200" dirty="0">
                <a:solidFill>
                  <a:schemeClr val="tx1"/>
                </a:solidFill>
              </a:rPr>
              <a:t>The report contains Detailed Data Sheet</a:t>
            </a:r>
            <a:endParaRPr lang="en-US" sz="2000" kern="1200" dirty="0">
              <a:solidFill>
                <a:schemeClr val="tx1"/>
              </a:solidFill>
            </a:endParaRPr>
          </a:p>
          <a:p>
            <a:pPr marL="228600"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Columns: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MDMID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Customer Name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Address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City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Region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Country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Postal Code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DUNS Number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Name Status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Address Status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Postal Status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Region Status</a:t>
            </a:r>
          </a:p>
          <a:p>
            <a:pPr lvl="0"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Record Validation</a:t>
            </a:r>
          </a:p>
          <a:p>
            <a:pPr indent="-45720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Remarks</a:t>
            </a:r>
          </a:p>
          <a:p>
            <a:pPr marL="228600" lvl="0" indent="-228600">
              <a:buSzPts val="1100"/>
              <a:buFont typeface="Arial" panose="020B0604020202020204" pitchFamily="34" charset="0"/>
              <a:buChar char="•"/>
            </a:pPr>
            <a:endParaRPr lang="en-IN" sz="13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F8111-0DEC-0C51-C784-0F4C374404C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07200" y="1328737"/>
            <a:ext cx="5181600" cy="4351338"/>
          </a:xfrm>
        </p:spPr>
        <p:txBody>
          <a:bodyPr/>
          <a:lstStyle/>
          <a:p>
            <a:pPr marL="0" lvl="0" indent="0">
              <a:buSzPts val="1100"/>
              <a:buNone/>
            </a:pPr>
            <a:r>
              <a:rPr lang="en-US" sz="2000" b="1" kern="1200" dirty="0">
                <a:solidFill>
                  <a:schemeClr val="tx1"/>
                </a:solidFill>
              </a:rPr>
              <a:t>Summary Table</a:t>
            </a:r>
            <a:endParaRPr lang="en-US" sz="2000" kern="1200" dirty="0">
              <a:solidFill>
                <a:schemeClr val="tx1"/>
              </a:solidFill>
            </a:endParaRPr>
          </a:p>
          <a:p>
            <a:pPr marL="285750" lvl="0" indent="-28575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Total Records</a:t>
            </a:r>
          </a:p>
          <a:p>
            <a:pPr marL="285750" lvl="0" indent="-28575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Pass %</a:t>
            </a:r>
          </a:p>
          <a:p>
            <a:pPr marL="285750" lvl="0" indent="-28575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Fail %</a:t>
            </a:r>
          </a:p>
          <a:p>
            <a:pPr marL="285750" lvl="0" indent="-28575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Per-field statistics</a:t>
            </a:r>
          </a:p>
          <a:p>
            <a:pPr marL="0" lvl="0" indent="0">
              <a:buSzPts val="1100"/>
              <a:buNone/>
            </a:pPr>
            <a:r>
              <a:rPr lang="en-US" sz="2000" b="1" kern="1200" dirty="0">
                <a:solidFill>
                  <a:schemeClr val="tx1"/>
                </a:solidFill>
              </a:rPr>
              <a:t> Chart Sheet</a:t>
            </a:r>
            <a:endParaRPr lang="en-US" sz="2000" kern="1200" dirty="0">
              <a:solidFill>
                <a:schemeClr val="tx1"/>
              </a:solidFill>
            </a:endParaRPr>
          </a:p>
          <a:p>
            <a:pPr marL="285750" lvl="0" indent="-285750">
              <a:buSzPts val="1100"/>
              <a:buFont typeface="Wingdings" panose="05000000000000000000" pitchFamily="2" charset="2"/>
              <a:buChar char="Ø"/>
            </a:pPr>
            <a:r>
              <a:rPr lang="en-US" sz="1300" kern="1200" dirty="0">
                <a:solidFill>
                  <a:schemeClr val="tx1"/>
                </a:solidFill>
              </a:rPr>
              <a:t>Bar chart of pass–fail % per validation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5C6D2F-D604-8E14-FE5F-499310633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0" y="41463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14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3B632-4BBA-2F8A-786B-01A8DF2F7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6953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 dirty="0">
                <a:latin typeface="+mj-lt"/>
              </a:rPr>
              <a:t>LIMITATIONS </a:t>
            </a:r>
            <a:br>
              <a:rPr lang="en-US" sz="4200" dirty="0">
                <a:latin typeface="+mj-lt"/>
              </a:rPr>
            </a:br>
            <a:endParaRPr lang="en-IN" sz="4200" dirty="0">
              <a:latin typeface="+mj-lt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71DFA-08B9-9211-0947-FA0D76B2D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29384"/>
            <a:ext cx="10684764" cy="4690364"/>
          </a:xfrm>
        </p:spPr>
        <p:txBody>
          <a:bodyPr>
            <a:normAutofit/>
          </a:bodyPr>
          <a:lstStyle/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Configuration stored in Excel </a:t>
            </a: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Populate the map with the expected column names and their common variations (aliases) Examples include:</a:t>
            </a: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Name1 → NAME1, NAME, CUSTOMER NAME, CLIENT NAME, COMPANY NAME, ACCOUNT NAME, ORGANIZATION NAME</a:t>
            </a: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Street/House → STREET/HOUSE, ADDRESS, ADDRESS LINE 1, STREET ADDRESS, LINE 1</a:t>
            </a: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 → CITY, TOWN, LOCATION, CITY NAME</a:t>
            </a: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Postal Code → POSTAL CODE, POSTAL, ZIP CODE, ZIP, PC</a:t>
            </a: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Country → COUNTRY, COUNTRY CODE, CUST_COUNTRY</a:t>
            </a: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 → REGION, STATE, PROVINCE, STATE/PROVINCE, COUNTY</a:t>
            </a: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DUNS Number → DUNS NUMBER, DUNS, DUNS NO, DUNS#</a:t>
            </a: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authentication on the web UI</a:t>
            </a: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Logging uses custom stream instead of SLF4J bridge</a:t>
            </a: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pagination for large DB tables</a:t>
            </a: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SzPts val="1200"/>
              <a:buFont typeface="Wingdings" panose="05000000000000000000" pitchFamily="2" charset="2"/>
              <a:buChar char="Ø"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373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Freeform: Shape 6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4D467-1B3E-744F-A7B7-113776B5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>
                <a:latin typeface="+mj-lt"/>
              </a:rPr>
              <a:t>CONCLUSION</a:t>
            </a:r>
            <a:br>
              <a:rPr lang="en-US" sz="4000">
                <a:latin typeface="+mj-lt"/>
              </a:rPr>
            </a:br>
            <a:endParaRPr lang="en-IN" sz="400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0" name="Text Placeholder 2">
            <a:extLst>
              <a:ext uri="{FF2B5EF4-FFF2-40B4-BE49-F238E27FC236}">
                <a16:creationId xmlns:a16="http://schemas.microsoft.com/office/drawing/2014/main" id="{FC147C70-76BE-E75E-D7FE-CF4606B652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389608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7987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6399980" y="3148473"/>
            <a:ext cx="6742471" cy="3056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lang="en-US" sz="4000" dirty="0">
                <a:solidFill>
                  <a:schemeClr val="lt1"/>
                </a:solidFill>
                <a:latin typeface="+mj-lt"/>
              </a:rPr>
              <a:t>Thank You!</a:t>
            </a:r>
            <a:br>
              <a:rPr lang="en-US" sz="4000" dirty="0">
                <a:solidFill>
                  <a:schemeClr val="lt1"/>
                </a:solidFill>
                <a:latin typeface="+mj-lt"/>
              </a:rPr>
            </a:br>
            <a:br>
              <a:rPr lang="en-US" sz="4000" dirty="0">
                <a:solidFill>
                  <a:schemeClr val="lt1"/>
                </a:solidFill>
                <a:latin typeface="+mj-lt"/>
              </a:rPr>
            </a:br>
            <a:br>
              <a:rPr lang="en-US" sz="4000" dirty="0">
                <a:solidFill>
                  <a:schemeClr val="lt1"/>
                </a:solidFill>
                <a:latin typeface="+mj-lt"/>
              </a:rPr>
            </a:br>
            <a:endParaRPr sz="4000" dirty="0">
              <a:solidFill>
                <a:schemeClr val="lt1"/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1181</Words>
  <Application>Microsoft Office PowerPoint</Application>
  <PresentationFormat>Widescreen</PresentationFormat>
  <Paragraphs>171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Hanken Grotesk Light</vt:lpstr>
      <vt:lpstr>Colonna MT</vt:lpstr>
      <vt:lpstr>Hanken Grotesk Medium</vt:lpstr>
      <vt:lpstr>Play</vt:lpstr>
      <vt:lpstr>Wingdings</vt:lpstr>
      <vt:lpstr>Calibri</vt:lpstr>
      <vt:lpstr>Arial</vt:lpstr>
      <vt:lpstr>Office Theme</vt:lpstr>
      <vt:lpstr>Revvity Data Quality Tool </vt:lpstr>
      <vt:lpstr>REVVITY DATA QUALITY TOOL</vt:lpstr>
      <vt:lpstr>INTRODUCTION</vt:lpstr>
      <vt:lpstr>PowerPoint Presentation</vt:lpstr>
      <vt:lpstr>OBJECTIVES and KEY FEATURES</vt:lpstr>
      <vt:lpstr> HIGH-LEVEL ARCHITECTURE</vt:lpstr>
      <vt:lpstr>FUNCTIONAL FLOW DB Mode </vt:lpstr>
      <vt:lpstr>Architecture of DB Mode</vt:lpstr>
      <vt:lpstr>FUNCTIONAL FLOW Excel Mode </vt:lpstr>
      <vt:lpstr>  Architecture of Excel Mode</vt:lpstr>
      <vt:lpstr>VALIDATION RULES </vt:lpstr>
      <vt:lpstr>Address Validation </vt:lpstr>
      <vt:lpstr>Region and Postal Code Validations  </vt:lpstr>
      <vt:lpstr>Fuzzy match with Customer Table for valid data to find the Valid Record is already Existed  </vt:lpstr>
      <vt:lpstr>CONFIGURATION  </vt:lpstr>
      <vt:lpstr>Source Table (from configuration) </vt:lpstr>
      <vt:lpstr>Primary Reference Table(country_region_postal_validation)</vt:lpstr>
      <vt:lpstr>Output Table for DB mode and Excel Mode</vt:lpstr>
      <vt:lpstr>  Report Generation</vt:lpstr>
      <vt:lpstr>LIMITATIONS  </vt:lpstr>
      <vt:lpstr>CONCLUSION </vt:lpstr>
      <vt:lpstr>Thank You!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Gali, Sumanasree</dc:creator>
  <cp:lastModifiedBy>Dinesh, K (Cognizant)</cp:lastModifiedBy>
  <cp:revision>2</cp:revision>
  <dcterms:created xsi:type="dcterms:W3CDTF">2025-12-22T17:08:06Z</dcterms:created>
  <dcterms:modified xsi:type="dcterms:W3CDTF">2025-12-23T11:23:35Z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Revvity Proprietary Information</vt:lpwstr>
  </property>
</Properties>
</file>